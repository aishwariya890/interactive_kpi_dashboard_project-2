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1E9691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Orders</c:v>
                </c:pt>
                <c:pt idx="1">
                  <c:v>Customers</c:v>
                </c:pt>
                <c:pt idx="2">
                  <c:v>Qty Sold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20730</c:v>
                </c:pt>
                <c:pt idx="1">
                  <c:v>4339</c:v>
                </c:pt>
                <c:pt idx="2">
                  <c:v>3643622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2BC-407A-BD2E-8A4FDAC8E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(£)</c:v>
                </c:pt>
              </c:strCache>
            </c:strRef>
          </c:tx>
          <c:spPr>
            <a:solidFill>
              <a:srgbClr val="2463A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1% uplift</c:v>
                </c:pt>
                <c:pt idx="2">
                  <c:v>2% uplift</c:v>
                </c:pt>
                <c:pt idx="3">
                  <c:v>3% uplift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7181282</c:v>
                </c:pt>
                <c:pt idx="1">
                  <c:v>7253095</c:v>
                </c:pt>
                <c:pt idx="2">
                  <c:v>7324908</c:v>
                </c:pt>
                <c:pt idx="3">
                  <c:v>7396720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589-4752-9832-D66A1A19B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2697480"/>
            <a:ext cx="502920" cy="155448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09560" y="253288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49640" y="1965960"/>
            <a:ext cx="502920" cy="228600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41080" y="180136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81160" y="1325880"/>
            <a:ext cx="502920" cy="292608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72600" y="116128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12680" y="2331720"/>
            <a:ext cx="502920" cy="19202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104119" y="2167128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09728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Executive Decision Report</a:t>
            </a:r>
          </a:p>
          <a:p>
            <a:pPr>
              <a:defRPr sz="2200">
                <a:solidFill>
                  <a:srgbClr val="BED7EB"/>
                </a:solidFill>
              </a:defRPr>
            </a:pPr>
            <a:r>
              <a:t>Retail Business Intelligence &amp; KPI Dashboard</a:t>
            </a:r>
          </a:p>
          <a:p>
            <a:pPr>
              <a:defRPr sz="1300">
                <a:solidFill>
                  <a:srgbClr val="D2DCE6"/>
                </a:solidFill>
              </a:defRPr>
            </a:pPr>
            <a:r>
              <a:t>Professional management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A concise view of the retail performance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" cy="155448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63A0"/>
                </a:solidFill>
              </a:defRPr>
            </a:pPr>
            <a:r>
              <a:t>£7,181,282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73152" cy="155448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21408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9691"/>
                </a:solidFill>
              </a:defRPr>
            </a:pPr>
            <a:r>
              <a:t>20,730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19" y="1554480"/>
            <a:ext cx="73152" cy="155448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17373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Average Order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121408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F8F36"/>
                </a:solidFill>
              </a:defRPr>
            </a:pPr>
            <a:r>
              <a:t>£346.42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20439"/>
            <a:ext cx="73152" cy="155448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Total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87368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63A0"/>
                </a:solidFill>
              </a:defRPr>
            </a:pPr>
            <a:r>
              <a:t>4,339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20439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520439"/>
            <a:ext cx="73152" cy="1554480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033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Quantity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87368"/>
            <a:ext cx="2926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9915B"/>
                </a:solidFill>
              </a:defRPr>
            </a:pPr>
            <a:r>
              <a:t>3,643,622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Business Problem &amp;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8046720" y="1508760"/>
            <a:ext cx="2560320" cy="2560320"/>
          </a:xfrm>
          <a:prstGeom prst="ellipse">
            <a:avLst/>
          </a:prstGeom>
          <a:solidFill>
            <a:srgbClr val="E7F0F8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49640" y="2011680"/>
            <a:ext cx="1554480" cy="1554480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32520" y="242316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6492240" cy="4206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73443"/>
                </a:solidFill>
              </a:defRPr>
            </a:pPr>
            <a:r>
              <a:t>• Monitor overall business revenue and sales performance</a:t>
            </a:r>
          </a:p>
          <a:p>
            <a:pPr>
              <a:spcAft>
                <a:spcPts val="900"/>
              </a:spcAft>
              <a:defRPr sz="1700">
                <a:solidFill>
                  <a:srgbClr val="273443"/>
                </a:solidFill>
              </a:defRPr>
            </a:pPr>
            <a:r>
              <a:t>• Identify top-performing products</a:t>
            </a:r>
          </a:p>
          <a:p>
            <a:pPr>
              <a:spcAft>
                <a:spcPts val="900"/>
              </a:spcAft>
              <a:defRPr sz="1700">
                <a:solidFill>
                  <a:srgbClr val="273443"/>
                </a:solidFill>
              </a:defRPr>
            </a:pPr>
            <a:r>
              <a:t>• Understand country-wise revenue performance</a:t>
            </a:r>
          </a:p>
          <a:p>
            <a:pPr>
              <a:spcAft>
                <a:spcPts val="900"/>
              </a:spcAft>
              <a:defRPr sz="1700">
                <a:solidFill>
                  <a:srgbClr val="273443"/>
                </a:solidFill>
              </a:defRPr>
            </a:pPr>
            <a:r>
              <a:t>• Track important business KPIs</a:t>
            </a:r>
          </a:p>
          <a:p>
            <a:pPr>
              <a:spcAft>
                <a:spcPts val="900"/>
              </a:spcAft>
              <a:defRPr sz="1700">
                <a:solidFill>
                  <a:srgbClr val="273443"/>
                </a:solidFill>
              </a:defRPr>
            </a:pPr>
            <a:r>
              <a:t>• Support data-driven business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From raw retail data to strategic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2344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Raw Retail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5544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39" y="1554480"/>
            <a:ext cx="73152" cy="123444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7373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Data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544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59" y="1554480"/>
            <a:ext cx="73152" cy="123444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17373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Data 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5448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98280" y="1554480"/>
            <a:ext cx="73152" cy="1234440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73736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KPI Calculation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3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520439"/>
            <a:ext cx="73152" cy="12344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0332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Data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352043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20439" y="3520439"/>
            <a:ext cx="73152" cy="123444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39" y="370332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Interactive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52043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59" y="3520439"/>
            <a:ext cx="73152" cy="123444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59" y="370332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Business Insights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520439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3520439"/>
            <a:ext cx="73152" cy="1234440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3703320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Strategic Decisions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KPI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Core metrics used to monitor performance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08760"/>
          <a:ext cx="64008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554480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1554480"/>
            <a:ext cx="73152" cy="141732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737360"/>
            <a:ext cx="3566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121408"/>
            <a:ext cx="35661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63A0"/>
                </a:solidFill>
              </a:defRPr>
            </a:pPr>
            <a:r>
              <a:t>£7.18M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200400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06640" y="3200400"/>
            <a:ext cx="73152" cy="141732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3383280"/>
            <a:ext cx="3566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Average Order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767328"/>
            <a:ext cx="35661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F8F36"/>
                </a:solidFill>
              </a:defRPr>
            </a:pPr>
            <a:r>
              <a:t>£346.42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846320"/>
            <a:ext cx="39776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0" y="4846320"/>
            <a:ext cx="73152" cy="914400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5029200"/>
            <a:ext cx="3566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413248"/>
            <a:ext cx="35661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9915B"/>
                </a:solidFill>
              </a:defRPr>
            </a:pPr>
            <a:r>
              <a:t>4,339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Key Revenue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The dashboard highlights several areas that shape sales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554480"/>
            <a:ext cx="777240" cy="3108960"/>
          </a:xfrm>
          <a:prstGeom prst="round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23960" y="1554480"/>
            <a:ext cx="777240" cy="3108960"/>
          </a:xfrm>
          <a:prstGeom prst="round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84080" y="1554480"/>
            <a:ext cx="777240" cy="3108960"/>
          </a:xfrm>
          <a:prstGeom prst="round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65836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Monthly revenue trend shows changes in sales over time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Top countries contribute significantly to total revenue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Top products are important contributors to sales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Revenue, Orders and Average Order Value should be reviewed together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These insights help identify areas for business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Geographic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Country-wise performance identifies important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492240" cy="4572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United Kingdom is the highest-revenue country in the dashboard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Germany is another major revenue contributor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EIRE, France and Netherlands also show strong revenue performance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Country-wise analysis helps identify important markets</a:t>
            </a:r>
          </a:p>
          <a:p>
            <a:pPr>
              <a:spcAft>
                <a:spcPts val="900"/>
              </a:spcAft>
              <a:defRPr sz="1500">
                <a:solidFill>
                  <a:srgbClr val="273443"/>
                </a:solidFill>
              </a:defRPr>
            </a:pPr>
            <a:r>
              <a:t>• Country filters can be used to compare market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749039" cy="4434840"/>
          </a:xfrm>
          <a:prstGeom prst="roundRect">
            <a:avLst/>
          </a:prstGeom>
          <a:solidFill>
            <a:srgbClr val="E8F0F6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2057400"/>
            <a:ext cx="502920" cy="502920"/>
          </a:xfrm>
          <a:prstGeom prst="ellipse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13055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418320" y="2468880"/>
            <a:ext cx="502920" cy="502920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0" y="254203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3291840"/>
            <a:ext cx="502920" cy="502920"/>
          </a:xfrm>
          <a:prstGeom prst="ellipse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336499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10104120" y="3474720"/>
            <a:ext cx="502920" cy="502920"/>
          </a:xfrm>
          <a:prstGeom prst="ellipse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04120" y="35478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0" y="4251960"/>
            <a:ext cx="502920" cy="502920"/>
          </a:xfrm>
          <a:prstGeom prst="ellipse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46920" y="43251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Product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Products highlighted in the source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82296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REGENCY CAKESTAND 3 TIER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1581912"/>
            <a:ext cx="384048" cy="384048"/>
          </a:xfrm>
          <a:prstGeom prst="ellipse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82296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PARTY BUNTING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2633472"/>
            <a:ext cx="384048" cy="384048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3520439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520439"/>
            <a:ext cx="73152" cy="82296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WHITE HANGING HEART T-LIGHT HOLDER</a:t>
            </a:r>
          </a:p>
        </p:txBody>
      </p:sp>
      <p:sp>
        <p:nvSpPr>
          <p:cNvPr id="16" name="Oval 15"/>
          <p:cNvSpPr/>
          <p:nvPr/>
        </p:nvSpPr>
        <p:spPr>
          <a:xfrm>
            <a:off x="10607040" y="3685031"/>
            <a:ext cx="384048" cy="384048"/>
          </a:xfrm>
          <a:prstGeom prst="ellipse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73152" cy="822960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754880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JUMBO BAG RED RETROSPOT</a:t>
            </a:r>
          </a:p>
        </p:txBody>
      </p:sp>
      <p:sp>
        <p:nvSpPr>
          <p:cNvPr id="20" name="Oval 19"/>
          <p:cNvSpPr/>
          <p:nvPr/>
        </p:nvSpPr>
        <p:spPr>
          <a:xfrm>
            <a:off x="10607040" y="4736592"/>
            <a:ext cx="384048" cy="384048"/>
          </a:xfrm>
          <a:prstGeom prst="ellipse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Risk Areas &amp; Data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Important limitations to keep in view when interpreting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CAC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09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Cannot be calculated from the available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23444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4709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Cannot be calculated because there is no explicit churn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17520"/>
            <a:ext cx="73152" cy="12344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Historical 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20439"/>
            <a:ext cx="4709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The analysis is based on historical retail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73152" cy="12344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Revenue 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20439"/>
            <a:ext cx="4709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Revenue concentration should be monitored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617720"/>
            <a:ext cx="73152" cy="12344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Future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4709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Additional marketing and customer data can improve future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Actions described in the source report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581912"/>
            <a:ext cx="502920" cy="502920"/>
          </a:xfrm>
          <a:prstGeom prst="ellipse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5506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417320"/>
            <a:ext cx="9875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417320" y="1417320"/>
            <a:ext cx="73152" cy="123444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600200"/>
            <a:ext cx="9464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Increase Average Order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20240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Use product bundles and cross-selling; encourage customers to add more items per order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136392"/>
            <a:ext cx="502920" cy="502920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20954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2971800"/>
            <a:ext cx="9875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17320" y="2971800"/>
            <a:ext cx="73152" cy="123444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80"/>
            <a:ext cx="9464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Geographic Growth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74720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Study high-performing and developing markets; use country-wise dashboard filters for comparison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690872"/>
            <a:ext cx="502920" cy="502920"/>
          </a:xfrm>
          <a:prstGeom prst="ellipse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526280"/>
            <a:ext cx="9875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17320" y="4526280"/>
            <a:ext cx="73152" cy="123444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4709160"/>
            <a:ext cx="9464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Product-Level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29200"/>
            <a:ext cx="9464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Focus on high-revenue products; use bundling and cross-selling to increase sales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Illustrative ROI 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Scenario values are illustrative, not measured forecasts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46304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087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508760"/>
            <a:ext cx="73152" cy="1188720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6916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Implementation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075688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F8F36"/>
                </a:solidFill>
              </a:defRPr>
            </a:pPr>
            <a:r>
              <a:t>£25,000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92608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2926080"/>
            <a:ext cx="73152" cy="1188720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1% Revenue 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493008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9691"/>
                </a:solidFill>
              </a:defRPr>
            </a:pPr>
            <a:r>
              <a:t>£71,813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34340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4343400"/>
            <a:ext cx="73152" cy="1188720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5262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Break-even Uplift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0328"/>
            <a:ext cx="3017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9915B"/>
                </a:solidFill>
              </a:defRPr>
            </a:pPr>
            <a:r>
              <a:t>≈ 0.35%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63F"/>
                </a:solidFill>
              </a:defRPr>
            </a:pPr>
            <a:r>
              <a:t>Implementation Timeline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73443"/>
                </a:solidFill>
              </a:defRPr>
            </a:pPr>
            <a:r>
              <a:t>A 12-week path from preparation to continuous improvement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874519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63A0"/>
                </a:solidFill>
              </a:defRPr>
            </a:pPr>
            <a:r>
              <a:rPr dirty="0"/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" y="2404870"/>
            <a:ext cx="20574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Validate data and define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73152" cy="1874519"/>
          </a:xfrm>
          <a:prstGeom prst="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69163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Weeks 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07568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9691"/>
                </a:solidFill>
              </a:defRPr>
            </a:pPr>
            <a: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7036" y="2377443"/>
            <a:ext cx="20574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rPr dirty="0"/>
              <a:t>Test recommendations and monitor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73152" cy="1874519"/>
          </a:xfrm>
          <a:prstGeom prst="rect">
            <a:avLst/>
          </a:prstGeom>
          <a:solidFill>
            <a:srgbClr val="EF8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3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Weeks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75688"/>
            <a:ext cx="2057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F8F36"/>
                </a:solidFill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956" y="2404870"/>
            <a:ext cx="20574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t>Compare KPI performance and collect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50876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59" y="1508760"/>
            <a:ext cx="73152" cy="1874519"/>
          </a:xfrm>
          <a:prstGeom prst="rect">
            <a:avLst/>
          </a:prstGeom>
          <a:solidFill>
            <a:srgbClr val="39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59" y="1691639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73443"/>
                </a:solidFill>
              </a:defRPr>
            </a:pPr>
            <a:r>
              <a:t>Weeks 9–12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7831" y="1979685"/>
            <a:ext cx="22640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9915B"/>
                </a:solidFill>
              </a:defRPr>
            </a:pPr>
            <a:r>
              <a:rPr dirty="0"/>
              <a:t>Scale </a:t>
            </a:r>
            <a:r>
              <a:rPr lang="en-IN" dirty="0"/>
              <a:t>&amp;</a:t>
            </a:r>
            <a:r>
              <a:rPr dirty="0"/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5109" y="2446019"/>
            <a:ext cx="20574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73443"/>
                </a:solidFill>
              </a:defRPr>
            </a:pPr>
            <a:r>
              <a:rPr dirty="0"/>
              <a:t>Expand successful actions and continue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77639"/>
            <a:ext cx="10698480" cy="1508760"/>
          </a:xfrm>
          <a:prstGeom prst="round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224528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spcAft>
                <a:spcPts val="400"/>
              </a:spcAft>
              <a:defRPr sz="1300">
                <a:solidFill>
                  <a:srgbClr val="DCE8F2"/>
                </a:solidFill>
              </a:defRPr>
            </a:pPr>
            <a:r>
              <a:t>• Use the dashboard for regular performance monitoring</a:t>
            </a:r>
          </a:p>
          <a:p>
            <a:pPr>
              <a:spcAft>
                <a:spcPts val="400"/>
              </a:spcAft>
              <a:defRPr sz="1300">
                <a:solidFill>
                  <a:srgbClr val="DCE8F2"/>
                </a:solidFill>
              </a:defRPr>
            </a:pPr>
            <a:r>
              <a:t>• Track Revenue, Orders and AOV</a:t>
            </a:r>
          </a:p>
          <a:p>
            <a:pPr>
              <a:spcAft>
                <a:spcPts val="400"/>
              </a:spcAft>
              <a:defRPr sz="1300">
                <a:solidFill>
                  <a:srgbClr val="DCE8F2"/>
                </a:solidFill>
              </a:defRPr>
            </a:pPr>
            <a:r>
              <a:t>• Use product and country insights for strategic 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463A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490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Aishwariya Sheet</dc:creator>
  <cp:keywords/>
  <dc:description>generated using python-pptx</dc:description>
  <cp:lastModifiedBy>Aishwariya Sheet</cp:lastModifiedBy>
  <cp:revision>2</cp:revision>
  <dcterms:created xsi:type="dcterms:W3CDTF">2013-01-27T09:14:16Z</dcterms:created>
  <dcterms:modified xsi:type="dcterms:W3CDTF">2026-09-17T13:39:53Z</dcterms:modified>
  <cp:category/>
</cp:coreProperties>
</file>